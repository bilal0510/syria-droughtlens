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2A2118"/>
                </a:solidFill>
                <a:uFillTx/>
                <a:latin typeface="Calibri"/>
              </a:rPr>
              <a:t>% of dry years that were also hot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1982–2003</c:v>
                </c:pt>
              </c:strCache>
            </c:strRef>
          </c:tx>
          <c:spPr>
            <a:solidFill>
              <a:srgbClr val="2E86C1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2A2118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All regions</c:v>
                </c:pt>
                <c:pt idx="1">
                  <c:v>Raqqa</c:v>
                </c:pt>
                <c:pt idx="2">
                  <c:v>Damascus</c:v>
                </c:pt>
                <c:pt idx="3">
                  <c:v>Aleppo</c:v>
                </c:pt>
                <c:pt idx="4">
                  <c:v>Latakia</c:v>
                </c:pt>
                <c:pt idx="5">
                  <c:v>Hasakah</c:v>
                </c:pt>
                <c:pt idx="6">
                  <c:v>Deir ez-Zor</c:v>
                </c:pt>
                <c:pt idx="7">
                  <c:v>Daraa</c:v>
                </c:pt>
                <c:pt idx="8">
                  <c:v>Homs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17</c:v>
                </c:pt>
                <c:pt idx="1">
                  <c:v>22</c:v>
                </c:pt>
                <c:pt idx="2">
                  <c:v>14</c:v>
                </c:pt>
                <c:pt idx="3">
                  <c:v>20</c:v>
                </c:pt>
                <c:pt idx="4">
                  <c:v>0</c:v>
                </c:pt>
                <c:pt idx="5">
                  <c:v>14</c:v>
                </c:pt>
                <c:pt idx="6">
                  <c:v>20</c:v>
                </c:pt>
                <c:pt idx="7">
                  <c:v>25</c:v>
                </c:pt>
                <c:pt idx="8">
                  <c:v>11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2004–2025</c:v>
                </c:pt>
              </c:strCache>
            </c:strRef>
          </c:tx>
          <c:spPr>
            <a:solidFill>
              <a:srgbClr val="B8402B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2A2118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All regions</c:v>
                </c:pt>
                <c:pt idx="1">
                  <c:v>Raqqa</c:v>
                </c:pt>
                <c:pt idx="2">
                  <c:v>Damascus</c:v>
                </c:pt>
                <c:pt idx="3">
                  <c:v>Aleppo</c:v>
                </c:pt>
                <c:pt idx="4">
                  <c:v>Latakia</c:v>
                </c:pt>
                <c:pt idx="5">
                  <c:v>Hasakah</c:v>
                </c:pt>
                <c:pt idx="6">
                  <c:v>Deir ez-Zor</c:v>
                </c:pt>
                <c:pt idx="7">
                  <c:v>Daraa</c:v>
                </c:pt>
                <c:pt idx="8">
                  <c:v>Homs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9"/>
                <c:pt idx="0">
                  <c:v>58</c:v>
                </c:pt>
                <c:pt idx="1">
                  <c:v>75</c:v>
                </c:pt>
                <c:pt idx="2">
                  <c:v>71</c:v>
                </c:pt>
                <c:pt idx="3">
                  <c:v>67</c:v>
                </c:pt>
                <c:pt idx="4">
                  <c:v>67</c:v>
                </c:pt>
                <c:pt idx="5">
                  <c:v>56</c:v>
                </c:pt>
                <c:pt idx="6">
                  <c:v>50</c:v>
                </c:pt>
                <c:pt idx="7">
                  <c:v>40</c:v>
                </c:pt>
                <c:pt idx="8">
                  <c:v>40</c:v>
                </c:pt>
              </c:numCache>
            </c:numRef>
          </c:val>
        </c:ser>
        <c:gapWidth val="50"/>
        <c:overlap val="0"/>
        <c:axId val="61901887"/>
        <c:axId val="96475066"/>
      </c:barChart>
      <c:catAx>
        <c:axId val="61901887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2A2118"/>
                </a:solidFill>
                <a:uFillTx/>
                <a:latin typeface="Calibri"/>
              </a:defRPr>
            </a:pPr>
          </a:p>
        </c:txPr>
        <c:crossAx val="96475066"/>
        <c:crosses val="autoZero"/>
        <c:auto val="1"/>
        <c:lblAlgn val="ctr"/>
        <c:lblOffset val="100"/>
        <c:noMultiLvlLbl val="0"/>
      </c:catAx>
      <c:valAx>
        <c:axId val="96475066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1901887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2A2118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F0F2C08-54A1-4FA2-86A3-52FD1CC4D62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38719-44BD-417B-A185-B59AC39CD9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BDBE8C-3D16-4F6A-8878-F764BE0A9C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F578A-5DD9-440D-A4D4-7D3FABF710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00C968-0A92-4D01-9D08-A23961AC67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764C5F-0E10-4F29-A3B2-F457119BC6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B7FE96-BB1C-4021-B6A7-4FD1B059A5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54565-4CBF-4EEA-8F2D-3FD1A5B5EA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18872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Syria DroughtLens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224028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9D8B4"/>
                </a:solidFill>
                <a:effectLst/>
                <a:uFillTx/>
                <a:latin typeface="Calibri"/>
                <a:ea typeface="Calibri"/>
              </a:rPr>
              <a:t>Drought and heat in Syria, 1981–2025, and an early warning for dry years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3840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FTL Syria AI4Climate · Python for Climate Hackathon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45720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A2118"/>
                </a:solidFill>
                <a:effectLst/>
                <a:uFillTx/>
                <a:latin typeface="Cambria"/>
                <a:ea typeface="Cambria"/>
              </a:rPr>
              <a:t>The problem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57200" y="1371600"/>
            <a:ext cx="4297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Water scarcity is growing: drought threatens agriculture, food security and drinking water.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Warming raises evaporation, so dry years may become more frequent or more severe.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Rainfall varies a lot from year to year, so change is hard to see without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5120640" y="1371600"/>
            <a:ext cx="3565800" cy="3108600"/>
          </a:xfrm>
          <a:prstGeom prst="roundRect">
            <a:avLst>
              <a:gd name="adj" fmla="val 2941"/>
            </a:avLst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5349240" y="15544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D8B4"/>
                </a:solidFill>
                <a:effectLst/>
                <a:uFillTx/>
                <a:latin typeface="Calibri"/>
                <a:ea typeface="Calibri"/>
              </a:rPr>
              <a:t>RESEARCH QUESTION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5349240" y="1920240"/>
            <a:ext cx="3108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Have drought conditions in Syria become more frequent or severe between 1981 and 2025, and which regions are most affected?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5720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A2118"/>
                </a:solidFill>
                <a:effectLst/>
                <a:uFillTx/>
                <a:latin typeface="Cambria"/>
                <a:ea typeface="Cambria"/>
              </a:rPr>
              <a:t>The data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1280160"/>
            <a:ext cx="2605680" cy="173700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40080" y="1417320"/>
            <a:ext cx="2239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45 years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640080" y="205740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Daily data, 1981–2025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3246120" y="1280160"/>
            <a:ext cx="2605680" cy="173700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3429000" y="1417320"/>
            <a:ext cx="2239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8 regions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429000" y="205740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Damascus, Aleppo, Homs, Latakia, Raqqa, Deir ez-Zor, Hasakah, Daraa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6035040" y="1280160"/>
            <a:ext cx="2605680" cy="173700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217920" y="1417320"/>
            <a:ext cx="2239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8 variables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6217920" y="205740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Rainfall, temperature, soil wetness, humidity, evaporation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457200" y="338328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Source: NASA POWER Daily API (MERRA-2 reanalysis, about 50 km grid): power.larc.nasa.gov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Cleaned into 44 complete hydrological years (Oct–Sep), 16,071 days per region.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A2118"/>
                </a:solidFill>
                <a:effectLst/>
                <a:uFillTx/>
                <a:latin typeface="Cambria"/>
                <a:ea typeface="Cambria"/>
              </a:rPr>
              <a:t>Python approach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457200" y="1371600"/>
            <a:ext cx="1462680" cy="1645560"/>
          </a:xfrm>
          <a:prstGeom prst="roundRect">
            <a:avLst>
              <a:gd name="adj" fmla="val 6250"/>
            </a:avLst>
          </a:prstGeom>
          <a:solidFill>
            <a:srgbClr val="2A2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567000" y="1481400"/>
            <a:ext cx="124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  Fetch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567000" y="1920240"/>
            <a:ext cx="124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NASA POWER API, 8 regions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1956960" y="2084760"/>
            <a:ext cx="164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770"/>
          </a:solidFill>
          <a:ln w="12700">
            <a:solidFill>
              <a:srgbClr val="5B67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2148840" y="1371600"/>
            <a:ext cx="1462680" cy="1645560"/>
          </a:xfrm>
          <a:prstGeom prst="roundRect">
            <a:avLst>
              <a:gd name="adj" fmla="val 6250"/>
            </a:avLst>
          </a:prstGeom>
          <a:solidFill>
            <a:srgbClr val="2A2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2258640" y="1481400"/>
            <a:ext cx="124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  Clean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2258640" y="1920240"/>
            <a:ext cx="124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Checks, gap handling, hydrological years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3648600" y="2084760"/>
            <a:ext cx="164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770"/>
          </a:solidFill>
          <a:ln w="12700">
            <a:solidFill>
              <a:srgbClr val="5B67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3840480" y="1371600"/>
            <a:ext cx="1462680" cy="1645560"/>
          </a:xfrm>
          <a:prstGeom prst="roundRect">
            <a:avLst>
              <a:gd name="adj" fmla="val 6250"/>
            </a:avLst>
          </a:prstGeom>
          <a:solidFill>
            <a:srgbClr val="2A2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3950280" y="1481400"/>
            <a:ext cx="124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  Indicators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3950280" y="1920240"/>
            <a:ext cx="124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Annual rainfall, temperature, soil wetness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2"/>
          <p:cNvSpPr/>
          <p:nvPr/>
        </p:nvSpPr>
        <p:spPr>
          <a:xfrm>
            <a:off x="5340240" y="2084760"/>
            <a:ext cx="164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770"/>
          </a:solidFill>
          <a:ln w="12700">
            <a:solidFill>
              <a:srgbClr val="5B67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5532120" y="1371600"/>
            <a:ext cx="1462680" cy="1645560"/>
          </a:xfrm>
          <a:prstGeom prst="roundRect">
            <a:avLst>
              <a:gd name="adj" fmla="val 6250"/>
            </a:avLst>
          </a:prstGeom>
          <a:solidFill>
            <a:srgbClr val="2A2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5641920" y="1481400"/>
            <a:ext cx="124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  Flag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5641920" y="1920240"/>
            <a:ext cx="124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Z-scores: dry, drought and hot-dry years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7031880" y="2084760"/>
            <a:ext cx="1641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770"/>
          </a:solidFill>
          <a:ln w="12700">
            <a:solidFill>
              <a:srgbClr val="5B67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7223760" y="1371600"/>
            <a:ext cx="1462680" cy="1645560"/>
          </a:xfrm>
          <a:prstGeom prst="roundRect">
            <a:avLst>
              <a:gd name="adj" fmla="val 6250"/>
            </a:avLst>
          </a:prstGeom>
          <a:solidFill>
            <a:srgbClr val="B840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7333560" y="1481400"/>
            <a:ext cx="124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  Predict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7333560" y="1920240"/>
            <a:ext cx="124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Early-warning model, walk-forward test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457200" y="338328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Stack: requests, pandas, scipy, scikit-learn, matplotlib.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Reproducible: one config file, six modules, and a notebook generated from them.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Honest testing: each year is predicted using only earlier years.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A2118"/>
                </a:solidFill>
                <a:effectLst/>
                <a:uFillTx/>
                <a:latin typeface="Cambria"/>
                <a:ea typeface="Cambria"/>
              </a:rPr>
              <a:t>Main results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1" name="Chart 0"/>
          <p:cNvGraphicFramePr/>
          <p:nvPr/>
        </p:nvGraphicFramePr>
        <p:xfrm>
          <a:off x="365760" y="1143000"/>
          <a:ext cx="512028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2" name="Text 1"/>
          <p:cNvSpPr/>
          <p:nvPr/>
        </p:nvSpPr>
        <p:spPr>
          <a:xfrm>
            <a:off x="5760720" y="12801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+0.37 to +0.49 °C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760720" y="17373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warming per decade in every region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5760720" y="24688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No rainfall decline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760720" y="2926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dry years did not increase (60 → 48)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5760720" y="3657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17% → 58%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5760720" y="41148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of dry years were also hot (odds ×7)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A2118"/>
                </a:solidFill>
                <a:effectLst/>
                <a:uFillTx/>
                <a:latin typeface="Cambria"/>
                <a:ea typeface="Cambria"/>
              </a:rPr>
              <a:t>An early warning for dry years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457200" y="1280160"/>
            <a:ext cx="2605680" cy="137124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640080" y="13716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0.84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640080" y="210312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ROC-AUC (0.50 = no skill)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3246120" y="1280160"/>
            <a:ext cx="2605680" cy="137124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3429000" y="13716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77%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3429000" y="210312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of dry years flagged by 31 Dec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6035040" y="1280160"/>
            <a:ext cx="2605680" cy="137124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217920" y="1371600"/>
            <a:ext cx="2239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B8402B"/>
                </a:solidFill>
                <a:effectLst/>
                <a:uFillTx/>
                <a:latin typeface="Cambria"/>
                <a:ea typeface="Cambria"/>
              </a:rPr>
              <a:t>28%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6217920" y="210312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false alarms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457200" y="27432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B6770"/>
                </a:solidFill>
                <a:effectLst/>
                <a:uFillTx/>
                <a:latin typeface="Calibri"/>
                <a:ea typeface="Calibri"/>
              </a:rPr>
              <a:t>Walk-forward test, 1995–2025: each year predicted using only earlier years.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457200" y="3200400"/>
            <a:ext cx="8229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On 31 December, three months into the hydrological year, the tool takes Oct–Dec rainfall and last year’s total and returns a risk level: Low, Moderate or High.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A211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2A2118"/>
                </a:solidFill>
                <a:effectLst/>
                <a:uFillTx/>
                <a:latin typeface="Calibri"/>
                <a:ea typeface="Calibri"/>
              </a:rPr>
              <a:t>It warns while the rainy season is still under way, leaving time to plan water and crops. Temperature added no skill; early rainfall does the work.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Limitations and next steps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12801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9D8B4"/>
                </a:solidFill>
                <a:effectLst/>
                <a:uFillTx/>
                <a:latin typeface="Cambria"/>
                <a:ea typeface="Cambria"/>
              </a:rPr>
              <a:t>Limitations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57200" y="1828800"/>
            <a:ext cx="3840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Reanalysis data (about 50 km), not station records; rainfall is less reliable in arid areas.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Only 44 years per region, about 300 region-years in total.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Part of the skill is built in: Oct–Dec rain is part of the annual total.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Pooled tests assume independence, but regions share droughts.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754880" y="12801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9D8B4"/>
                </a:solidFill>
                <a:effectLst/>
                <a:uFillTx/>
                <a:latin typeface="Cambria"/>
                <a:ea typeface="Cambria"/>
              </a:rPr>
              <a:t>Next steps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4754880" y="1828800"/>
            <a:ext cx="3840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Validate against station data.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Add soil-moisture and evaporation drought indices.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Turn the risk function into a dashboard or alert tool.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Extend to more regions and climate projections.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2026-10-02T02:09:07Z</dcterms:created>
  <dc:creator>PptxGenJS</dc:creator>
  <dc:description/>
  <dc:language>en-US</dc:language>
  <cp:lastModifiedBy/>
  <dcterms:modified xsi:type="dcterms:W3CDTF">2026-10-02T05:39:31Z</dcterms:modified>
  <cp:revision>2</cp:revision>
  <dc:subject>PptxGenJS Presentation</dc:subject>
  <dc:title>Syria DroughtLens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